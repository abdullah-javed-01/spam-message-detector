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7FF"/>
                </a:solidFill>
                <a:latin typeface="Calibri"/>
              </a:defRPr>
            </a:pPr>
            <a:r>
              <a:rPr lang="en-US" sz="1300" b="0" i="0" u="none" strike="noStrike" dirty="0">
                <a:solidFill>
                  <a:srgbClr val="F5F7FF"/>
                </a:solidFill>
                <a:latin typeface="Calibri"/>
              </a:rPr>
              <a:t>Ham vs Spam — Class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Messages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A9-45C8-B416-04013F18D510}"/>
              </c:ext>
            </c:extLst>
          </c:dPt>
          <c:dPt>
            <c:idx val="1"/>
            <c:invertIfNegative val="0"/>
            <c:bubble3D val="0"/>
            <c:spPr>
              <a:solidFill>
                <a:srgbClr val="FB71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A9-45C8-B416-04013F18D5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5F7FF"/>
                    </a:solidFill>
                    <a:latin typeface="Calibri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Ham (legit)</c:v>
                </c:pt>
                <c:pt idx="1">
                  <c:v>Spam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4516</c:v>
                </c:pt>
                <c:pt idx="1">
                  <c:v>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A9-45C8-B416-04013F18D5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3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7A1C4"/>
                </a:solidFill>
                <a:latin typeface="Calibri"/>
              </a:defRPr>
            </a:pPr>
            <a:endParaRPr lang="LID4096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41B33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B33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 Bayes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5F7FF"/>
                    </a:solidFill>
                    <a:latin typeface="Calibri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0.97970000000000002</c:v>
                </c:pt>
                <c:pt idx="1">
                  <c:v>0.95730000000000004</c:v>
                </c:pt>
                <c:pt idx="2">
                  <c:v>0.875</c:v>
                </c:pt>
                <c:pt idx="3">
                  <c:v>0.9143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A7-4F74-BFF1-6A38F0ADCF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5F7FF"/>
                    </a:solidFill>
                    <a:latin typeface="Calibri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0.98550000000000004</c:v>
                </c:pt>
                <c:pt idx="1">
                  <c:v>0.94489999999999996</c:v>
                </c:pt>
                <c:pt idx="2">
                  <c:v>0.9375</c:v>
                </c:pt>
                <c:pt idx="3">
                  <c:v>0.94120000000000004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A7-4F74-BFF1-6A38F0ADCF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35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97A1C4"/>
                </a:solidFill>
                <a:latin typeface="Calibri"/>
              </a:defRPr>
            </a:pPr>
            <a:endParaRPr lang="LID4096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D2545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1C4"/>
                </a:solidFill>
                <a:latin typeface="Calibri"/>
              </a:defRPr>
            </a:pPr>
            <a:endParaRPr lang="LID4096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5F7FF"/>
              </a:solidFill>
            </a:defRPr>
          </a:pPr>
          <a:endParaRPr lang="LID4096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847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COURSE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6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 MESSAGE</a:t>
            </a:r>
            <a:endParaRPr lang="en-US" sz="56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6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Filtering SMS Spam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141B33"/>
          </a:solidFill>
          <a:ln w="12700">
            <a:solidFill>
              <a:srgbClr val="4C5C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4526280"/>
            <a:ext cx="2528316" cy="420624"/>
          </a:xfrm>
          <a:prstGeom prst="roundRect">
            <a:avLst>
              <a:gd name="adj" fmla="val 50000"/>
            </a:avLst>
          </a:prstGeom>
          <a:solidFill>
            <a:srgbClr val="141B33"/>
          </a:solidFill>
          <a:ln w="12700">
            <a:solidFill>
              <a:srgbClr val="4C5C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4408" y="4526280"/>
            <a:ext cx="25283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93892" y="4526280"/>
            <a:ext cx="2144268" cy="420624"/>
          </a:xfrm>
          <a:prstGeom prst="roundRect">
            <a:avLst>
              <a:gd name="adj" fmla="val 50000"/>
            </a:avLst>
          </a:prstGeom>
          <a:solidFill>
            <a:srgbClr val="141B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93892" y="4526280"/>
            <a:ext cx="21442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623560"/>
            <a:ext cx="7315200" cy="822960"/>
          </a:xfrm>
          <a:prstGeom prst="roundRect">
            <a:avLst>
              <a:gd name="adj" fmla="val 13333"/>
            </a:avLst>
          </a:prstGeom>
          <a:solidFill>
            <a:srgbClr val="141B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5779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6035040"/>
            <a:ext cx="687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3000"/>
              </a:lnSpc>
            </a:pPr>
            <a:r>
              <a:rPr lang="en-US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Abdullah Javed · Ayza Tahir  · Qasim Ali · Momina Sohail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an AI Spam Filter?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text messages carry phishing links, fraud scams, and fake prize offers. Manually screening every message doesn't scale — the goal is to let a model read a message and instantly decide: is this safe, or dangerous?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41B33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788920"/>
            <a:ext cx="548640" cy="548640"/>
          </a:xfrm>
          <a:prstGeom prst="ellipse">
            <a:avLst/>
          </a:prstGeom>
          <a:solidFill>
            <a:srgbClr val="4C5CD2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8620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3832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 unwanted or malicious SMS messages before they reach the user, reducing fraud risk and saving time otherwise spent manually sorting messages.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251460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41B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2788920"/>
            <a:ext cx="548640" cy="54864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8620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3832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supervised binary text-classification model that maps raw message text to a target label: "ham" (legitimate) or "spam" — and compare two algorithms head-to-head.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820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93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SMS text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83280" y="4800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820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6616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5193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vs spam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4800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8204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193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69680" y="4800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8204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5256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5193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compared head-to-head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DATASET OVERVIEW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SMS Spam Collection Dataset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dataset of real SMS messages, each hand-labeled as legitimate ("ham") or unwanted ("spam"). Loaded from spam.csv with two usable columns after cleanup: the label and the raw message text.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C5C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5,572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messages loaded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5146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columns: label, message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latin-1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text encoding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9680" y="25146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52560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ham &amp; spam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1820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 SCHEMA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1023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193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label  ham / spam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51023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5193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message  raw SMS text content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 PREPROCESSING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Data &amp; Class Imbalance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4C5CD2">
              <a:alpha val="8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801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&amp; trim whitespace from labels and messages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4C5CD2">
              <a:alpha val="8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423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valid rows labeled "ham" or "spam"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384048" cy="384048"/>
          </a:xfrm>
          <a:prstGeom prst="ellipse">
            <a:avLst/>
          </a:prstGeom>
          <a:solidFill>
            <a:srgbClr val="4C5CD2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0449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empty / blank messages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384048" cy="384048"/>
          </a:xfrm>
          <a:prstGeom prst="ellipse">
            <a:avLst/>
          </a:prstGeom>
          <a:solidFill>
            <a:srgbClr val="4C5CD2">
              <a:alpha val="8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6667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(label, message) pairs — 414 removed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407408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18204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56285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5,158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45902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unique messages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modeling</a:t>
            </a:r>
            <a:endParaRPr lang="en-US" sz="12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172200" y="1691640"/>
          <a:ext cx="53492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6172200" y="55321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87.6% ham vs 12.4% spam — a real-world class imbalance the models must handle.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FEATURE ENGINEERING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Text Into Numbers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141B3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4C5CD2">
              <a:alpha val="8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0391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606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converted into a weighted vector of word importance — words that are frequent in one message but rare across all messages score highest.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lowercase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922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ngram_range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922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2)  — unigrams + bigrams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251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sublinear_tf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325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727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 size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4727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42,236 features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169164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141B33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1965960"/>
            <a:ext cx="548640" cy="54864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0391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 / Test Split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· 20% test · random_state = 42 · stratified on label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0412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3630168"/>
            <a:ext cx="5029200" cy="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3703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3,612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514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4,126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355080" y="4160520"/>
            <a:ext cx="5029200" cy="0"/>
          </a:xfrm>
          <a:prstGeom prst="line">
            <a:avLst/>
          </a:prstGeom>
          <a:noFill/>
          <a:ln w="12700">
            <a:solidFill>
              <a:srgbClr val="232B4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4160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54380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904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010412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1,032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355080" y="4617720"/>
            <a:ext cx="5029200" cy="0"/>
          </a:xfrm>
          <a:prstGeom prst="line">
            <a:avLst/>
          </a:prstGeom>
          <a:noFill/>
          <a:ln w="12700">
            <a:solidFill>
              <a:srgbClr val="232B4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5508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keeps the same 87.6% / 12.4% ham-spam ratio in both sets.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MODEL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Multinomial Naive Bayes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probabilistic classifier built on Bayes' Theorem. It assumes every word contributes independently to the probability of a message being spam — a simplification that works surprisingly well for word-frequency text data.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1820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P(spam | message) ∝ P(spam) × Π P(wordᵢ | spam)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whichever class (ham/spam) makes the observed words most probable.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141B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= 0.3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Laplace smoothing — lower value trusts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data more strongly.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fit_prior = False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uniform class prior instead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imbalanced 87/12 split.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51460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141B33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2788920"/>
            <a:ext cx="548640" cy="54864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862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3502152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3355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to train, even on sparse TF-IDF vectors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39867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strong, well-known baseline for text classification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4471416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high-dimensional word-frequency data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4956048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48097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probability-based decisions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MODEL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linear, discriminative classifier. It learns a weight for every TF-IDF feature and squashes the weighted sum through a sigmoid function to output a spam probability between 0 and 1.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1820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P(spam) = σ( w · x + b 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TF-IDF words push a message toward spam or ham.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141B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09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2.0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regularization strength —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 more flexible decision boundary.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 = balanced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up-weights the minority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class during training.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51460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141B33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2788920"/>
            <a:ext cx="548640" cy="54864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862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350215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3355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high-dimensional sparse TF-IDF features well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3986784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directly counters the 87/12 imbalance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4471416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calibrated probabilities, not just a label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4956048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48097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max_iter=1500 ensures the optimizer fully converges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MODEL STRATEGY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vs. Logistic Regression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60520" y="1691640"/>
            <a:ext cx="3383280" cy="502920"/>
          </a:xfrm>
          <a:prstGeom prst="roundRect">
            <a:avLst>
              <a:gd name="adj" fmla="val 21818"/>
            </a:avLst>
          </a:prstGeom>
          <a:solidFill>
            <a:srgbClr val="1820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6052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1691640"/>
            <a:ext cx="3429000" cy="502920"/>
          </a:xfrm>
          <a:prstGeom prst="roundRect">
            <a:avLst>
              <a:gd name="adj" fmla="val 21818"/>
            </a:avLst>
          </a:prstGeom>
          <a:solidFill>
            <a:srgbClr val="1820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16916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774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2432304"/>
            <a:ext cx="3383280" cy="850392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2432304"/>
            <a:ext cx="3017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P(words | class)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2432304"/>
            <a:ext cx="3429000" cy="850392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2432304"/>
            <a:ext cx="3063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P(class | words) directly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10712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Assumption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60520" y="3465576"/>
            <a:ext cx="3383280" cy="850392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43400" y="3465576"/>
            <a:ext cx="3017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are conditionally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given the class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0" y="3465576"/>
            <a:ext cx="3429000" cy="850392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63840" y="3465576"/>
            <a:ext cx="3063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combination of TF-IDF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predicts the class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443984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Imbalance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60520" y="4498848"/>
            <a:ext cx="3383280" cy="850392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43400" y="4498848"/>
            <a:ext cx="3017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fit_prior = False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(uniform class prior)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80960" y="4498848"/>
            <a:ext cx="3429000" cy="850392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63840" y="4498848"/>
            <a:ext cx="3063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"balanced"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(reweighted loss function)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47725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60520" y="5532120"/>
            <a:ext cx="3383280" cy="850392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5532120"/>
            <a:ext cx="3017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— closed-form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counting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80960" y="5532120"/>
            <a:ext cx="3429000" cy="850392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63840" y="5532120"/>
            <a:ext cx="3063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iterative optimizer,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1500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EVALUATION SETUP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 Success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12.4% of messages labeled spam, raw accuracy can be misleading — a model that always predicts "ham" would still score ~87.6%. So every model is scored on four metrics, focused on the spam class.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41B3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4C5CD2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5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 of messages classified correctly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5146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41B33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2743200"/>
            <a:ext cx="502920" cy="50292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(spam)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messages flagged spam, how many really are?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5146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41B33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27432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(spam)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real spam, how much did we catch?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5146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41B33"/>
          </a:solidFill>
          <a:ln/>
        </p:spPr>
      </p:sp>
      <p:sp>
        <p:nvSpPr>
          <p:cNvPr id="23" name="Shape 21"/>
          <p:cNvSpPr/>
          <p:nvPr/>
        </p:nvSpPr>
        <p:spPr>
          <a:xfrm>
            <a:off x="9098280" y="2743200"/>
            <a:ext cx="502920" cy="502920"/>
          </a:xfrm>
          <a:prstGeom prst="ellipse">
            <a:avLst/>
          </a:prstGeom>
          <a:solidFill>
            <a:srgbClr val="FB7185">
              <a:alpha val="85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982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(spam)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and recall into one number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182047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4937760"/>
            <a:ext cx="502920" cy="502920"/>
          </a:xfrm>
          <a:prstGeom prst="ellipse">
            <a:avLst/>
          </a:prstGeom>
          <a:solidFill>
            <a:srgbClr val="FB7185">
              <a:alpha val="85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4892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matters most here: a missed spam message (false negative) can mean a scam reaches the user — far costlier than a false alarm.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RESULTS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on the Held-Out Test Set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9164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737360"/>
            <a:ext cx="3703320" cy="502920"/>
          </a:xfrm>
          <a:prstGeom prst="roundRect">
            <a:avLst>
              <a:gd name="adj" fmla="val 21818"/>
            </a:avLst>
          </a:prstGeom>
          <a:solidFill>
            <a:srgbClr val="1820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0100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509760" y="1737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469880" y="1737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 Regression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18120" y="2267712"/>
            <a:ext cx="3703320" cy="502920"/>
          </a:xfrm>
          <a:prstGeom prst="roundRect">
            <a:avLst>
              <a:gd name="adj" fmla="val 21818"/>
            </a:avLst>
          </a:prstGeom>
          <a:solidFill>
            <a:srgbClr val="0A0F1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01000" y="2267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22677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97.97%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0469880" y="226771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98.55%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18120" y="2798064"/>
            <a:ext cx="3703320" cy="502920"/>
          </a:xfrm>
          <a:prstGeom prst="roundRect">
            <a:avLst>
              <a:gd name="adj" fmla="val 21818"/>
            </a:avLst>
          </a:prstGeom>
          <a:solidFill>
            <a:srgbClr val="141B3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01000" y="279806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(spam)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9509760" y="279806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95.73%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469880" y="279806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94.49%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818120" y="3328416"/>
            <a:ext cx="3703320" cy="502920"/>
          </a:xfrm>
          <a:prstGeom prst="roundRect">
            <a:avLst>
              <a:gd name="adj" fmla="val 21818"/>
            </a:avLst>
          </a:prstGeom>
          <a:solidFill>
            <a:srgbClr val="0A0F1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01000" y="3328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(spam)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9509760" y="332841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87.50%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0469880" y="3328416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93.75%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818120" y="3858768"/>
            <a:ext cx="3703320" cy="502920"/>
          </a:xfrm>
          <a:prstGeom prst="roundRect">
            <a:avLst>
              <a:gd name="adj" fmla="val 21818"/>
            </a:avLst>
          </a:prstGeom>
          <a:solidFill>
            <a:srgbClr val="141B3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01000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(spam)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9509760" y="38587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91.43%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10469880" y="385876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94.12%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818120" y="4526280"/>
            <a:ext cx="3703320" cy="1051560"/>
          </a:xfrm>
          <a:prstGeom prst="roundRect">
            <a:avLst>
              <a:gd name="adj" fmla="val 10435"/>
            </a:avLst>
          </a:prstGeom>
          <a:solidFill>
            <a:srgbClr val="18204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001000" y="452628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wins on 3 of 4 metrics — especially recall, catching more real spam.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MODEL DIAGNOSTICS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Matrices — Where Each Model Errs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166360" cy="457200"/>
          </a:xfrm>
          <a:prstGeom prst="roundRect">
            <a:avLst>
              <a:gd name="adj" fmla="val 24000"/>
            </a:avLst>
          </a:prstGeom>
          <a:solidFill>
            <a:srgbClr val="1820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011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651760"/>
            <a:ext cx="777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69080"/>
            <a:ext cx="777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2651760"/>
            <a:ext cx="1362456" cy="1362456"/>
          </a:xfrm>
          <a:prstGeom prst="roundRect">
            <a:avLst>
              <a:gd name="adj" fmla="val 5369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37360" y="265176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899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154680" y="2651760"/>
            <a:ext cx="1362456" cy="1362456"/>
          </a:xfrm>
          <a:prstGeom prst="roundRect">
            <a:avLst>
              <a:gd name="adj" fmla="val 5369"/>
            </a:avLst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54680" y="265176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737360" y="4069080"/>
            <a:ext cx="1362456" cy="1362456"/>
          </a:xfrm>
          <a:prstGeom prst="roundRect">
            <a:avLst>
              <a:gd name="adj" fmla="val 5369"/>
            </a:avLst>
          </a:prstGeom>
          <a:solidFill>
            <a:srgbClr val="FB7185">
              <a:alpha val="35000"/>
            </a:srgbClr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37360" y="406908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154680" y="4069080"/>
            <a:ext cx="1362456" cy="1362456"/>
          </a:xfrm>
          <a:prstGeom prst="roundRect">
            <a:avLst>
              <a:gd name="adj" fmla="val 5369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54680" y="406908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309360" y="1554480"/>
            <a:ext cx="5166360" cy="457200"/>
          </a:xfrm>
          <a:prstGeom prst="roundRect">
            <a:avLst>
              <a:gd name="adj" fmla="val 24000"/>
            </a:avLst>
          </a:prstGeom>
          <a:solidFill>
            <a:srgbClr val="18204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15544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2011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82396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2651760"/>
            <a:ext cx="777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069080"/>
            <a:ext cx="777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6640" y="2651760"/>
            <a:ext cx="1362456" cy="1362456"/>
          </a:xfrm>
          <a:prstGeom prst="roundRect">
            <a:avLst>
              <a:gd name="adj" fmla="val 5369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265176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897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823960" y="2651760"/>
            <a:ext cx="1362456" cy="1362456"/>
          </a:xfrm>
          <a:prstGeom prst="roundRect">
            <a:avLst>
              <a:gd name="adj" fmla="val 5369"/>
            </a:avLst>
          </a:prstGeom>
          <a:solidFill>
            <a:srgbClr val="FB7185">
              <a:alpha val="18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23960" y="265176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7406640" y="4069080"/>
            <a:ext cx="1362456" cy="1362456"/>
          </a:xfrm>
          <a:prstGeom prst="roundRect">
            <a:avLst>
              <a:gd name="adj" fmla="val 5369"/>
            </a:avLst>
          </a:prstGeom>
          <a:solidFill>
            <a:srgbClr val="FB7185">
              <a:alpha val="35000"/>
            </a:srgbClr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06640" y="406908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823960" y="4069080"/>
            <a:ext cx="1362456" cy="1362456"/>
          </a:xfrm>
          <a:prstGeom prst="roundRect">
            <a:avLst>
              <a:gd name="adj" fmla="val 5369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23960" y="4069080"/>
            <a:ext cx="13624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8204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8680" y="56235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misses only 8 spam messages (vs 16 for Naive Bayes) — nearly half the false negatives — at the cost of just 2 extra false alarms on legitimate messages.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4C5CD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What's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18204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20240"/>
            <a:ext cx="594360" cy="59436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993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Winner: Logistic Regression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60604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98.55% accuracy, 93.75% spam recall, and 94.12% F1 — the best balance of catching real spam without over-flagging legitimate messages, thanks to class_weight="balanced".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69164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141B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1920240"/>
            <a:ext cx="594360" cy="59436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993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 Worth Noting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6060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keeps false positives lowest (5 vs 7) — fewer real messages wrongly blocked — but at the cost of letting more spam through. The right pick depends on which mistake hurts more.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41B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736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20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LSTM / BERT for richer language understanding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4572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41B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66160" y="4736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5120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English SMS text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4572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41B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4736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120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values to justify each flag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69680" y="4572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8204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52560" y="4736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5120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shipped as an interactive Streamlit app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7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 DETECTOR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7D1570-180D-4EF7-8B6B-68302625D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72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4EF23A-3F5D-429E-9141-E67F07A1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87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1285</Words>
  <Application>Microsoft Office PowerPoint</Application>
  <PresentationFormat>Widescreen</PresentationFormat>
  <Paragraphs>256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Abdullah mughal</cp:lastModifiedBy>
  <cp:revision>4</cp:revision>
  <dcterms:created xsi:type="dcterms:W3CDTF">2026-08-26T09:55:28Z</dcterms:created>
  <dcterms:modified xsi:type="dcterms:W3CDTF">2026-08-26T16:33:16Z</dcterms:modified>
</cp:coreProperties>
</file>